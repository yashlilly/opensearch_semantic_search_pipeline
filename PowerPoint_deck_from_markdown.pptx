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scene: this deck covers my internship applying AI to data governance, quality and manufacturing operations at Lilly.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sections of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sets up why my projects exist — regulated data and regulated processes are the problem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org funnel: Lilly to Tech@Lilly to M&amp;Q to DIA to me, and my reporting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governance pyramid from top councils down to stewardship pods, and what DGIM means.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role statement, then walk through the five day-to-day activities.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Governance is my primary project; the others are contributions of varying depth. Common thread: using AI responsibly inside a regulated manufacturing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the deep dive on my primary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fragmentation problem before showing the platform we built to solve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nine capabilities of the MQ AI for Data Governance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DGIM rules side of the work — the platform is only as good as the rules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team cadence and my specific contributions on this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validation impact analyzer, why manual review is slow, and my ~30% allocation.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AMIGO's capabilities, scale across sites, tech stack, and my role among the project leads.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deviations, why investigation is the bottleneck, and the critical human-in-the-loop constraint.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into technical and domain/professional learnings.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impact per project, then close with the personal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real friction points across the four projects, not just the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the four projects back to where enterprise AI is heading industry-wide.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125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0500" y="-4191000"/>
            <a:ext cx="16002000" cy="16002000"/>
          </a:xfrm>
          <a:prstGeom prst="ellipse">
            <a:avLst/>
          </a:prstGeom>
          <a:ln w="22860">
            <a:solidFill>
              <a:srgbClr val="FFFFFF">
                <a:alpha val="3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96500" y="-1905000"/>
            <a:ext cx="11430000" cy="11430000"/>
          </a:xfrm>
          <a:prstGeom prst="ellipse">
            <a:avLst/>
          </a:prstGeom>
          <a:ln w="22860">
            <a:solidFill>
              <a:srgbClr val="FFFFFF">
                <a:alpha val="3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82500" y="381000"/>
            <a:ext cx="6858000" cy="6858000"/>
          </a:xfrm>
          <a:prstGeom prst="ellipse">
            <a:avLst/>
          </a:prstGeom>
          <a:ln w="22860">
            <a:solidFill>
              <a:srgbClr val="FFFFFF">
                <a:alpha val="3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097000" y="2095500"/>
            <a:ext cx="3429000" cy="3429000"/>
          </a:xfrm>
          <a:prstGeom prst="ellipse">
            <a:avLst/>
          </a:prstGeom>
          <a:solidFill>
            <a:srgbClr val="FBCFC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047750"/>
            <a:ext cx="2956679" cy="13335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43000" y="3668078"/>
            <a:ext cx="609600" cy="47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1981200" y="3560445"/>
            <a:ext cx="345548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 PRESENTATION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43000" y="4166235"/>
            <a:ext cx="12753975" cy="2362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50"/>
              </a:lnSpc>
              <a:buNone/>
            </a:pPr>
            <a:r>
              <a:rPr lang="en-US" sz="9150" spc="-82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internship at Eli Lilly and Company</a:t>
            </a:r>
            <a:endParaRPr lang="en-US" sz="9150" dirty="0"/>
          </a:p>
        </p:txBody>
      </p:sp>
      <p:sp>
        <p:nvSpPr>
          <p:cNvPr id="10" name="Text 7"/>
          <p:cNvSpPr/>
          <p:nvPr/>
        </p:nvSpPr>
        <p:spPr>
          <a:xfrm>
            <a:off x="1143000" y="6833235"/>
            <a:ext cx="9810750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58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AI to data governance, quality and manufacturing operations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1143000" y="8919210"/>
            <a:ext cx="861617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YASH KUMAR SAINI · INTERN – M&amp;Q, TECH@LILLY (BANGALORE)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3128784" y="8919210"/>
            <a:ext cx="441783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MANAGER: PREETHI RAGUKUMAR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468043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05890"/>
            <a:ext cx="468043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6300" spc="-105" kern="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I'll cover</a:t>
            </a:r>
            <a:endParaRPr lang="en-US" sz="6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69722" y="914400"/>
            <a:ext cx="1275278" cy="60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739390"/>
            <a:ext cx="16002000" cy="2286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2990850"/>
            <a:ext cx="11239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06"/>
              </a:lnSpc>
              <a:buNone/>
            </a:pPr>
            <a:r>
              <a:rPr lang="en-US" sz="375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750" dirty="0"/>
          </a:p>
        </p:txBody>
      </p:sp>
      <p:sp>
        <p:nvSpPr>
          <p:cNvPr id="7" name="Text 4"/>
          <p:cNvSpPr/>
          <p:nvPr/>
        </p:nvSpPr>
        <p:spPr>
          <a:xfrm>
            <a:off x="2647950" y="3067050"/>
            <a:ext cx="6496050" cy="454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18"/>
              </a:lnSpc>
              <a:buNone/>
            </a:pPr>
            <a:r>
              <a:rPr lang="en-US" sz="2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Eli Lilly and Company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9010650" y="3143250"/>
            <a:ext cx="874439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medicine company, and why data is as regulated as the product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1143000" y="3718560"/>
            <a:ext cx="16002000" cy="9525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3954780"/>
            <a:ext cx="11239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06"/>
              </a:lnSpc>
              <a:buNone/>
            </a:pPr>
            <a:r>
              <a:rPr lang="en-US" sz="375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750" dirty="0"/>
          </a:p>
        </p:txBody>
      </p:sp>
      <p:sp>
        <p:nvSpPr>
          <p:cNvPr id="11" name="Text 8"/>
          <p:cNvSpPr/>
          <p:nvPr/>
        </p:nvSpPr>
        <p:spPr>
          <a:xfrm>
            <a:off x="2647950" y="4030980"/>
            <a:ext cx="6496050" cy="454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18"/>
              </a:lnSpc>
              <a:buNone/>
            </a:pPr>
            <a:r>
              <a:rPr lang="en-US" sz="2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 sit</a:t>
            </a:r>
            <a:endParaRPr lang="en-US" sz="2850" dirty="0"/>
          </a:p>
        </p:txBody>
      </p:sp>
      <p:sp>
        <p:nvSpPr>
          <p:cNvPr id="12" name="Text 9"/>
          <p:cNvSpPr/>
          <p:nvPr/>
        </p:nvSpPr>
        <p:spPr>
          <a:xfrm>
            <a:off x="9010650" y="4107180"/>
            <a:ext cx="457971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Tech@Lilly and the M&amp;Q organisation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1143000" y="4682490"/>
            <a:ext cx="16002000" cy="9525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4918710"/>
            <a:ext cx="11239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06"/>
              </a:lnSpc>
              <a:buNone/>
            </a:pPr>
            <a:r>
              <a:rPr lang="en-US" sz="375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750" dirty="0"/>
          </a:p>
        </p:txBody>
      </p:sp>
      <p:sp>
        <p:nvSpPr>
          <p:cNvPr id="15" name="Text 12"/>
          <p:cNvSpPr/>
          <p:nvPr/>
        </p:nvSpPr>
        <p:spPr>
          <a:xfrm>
            <a:off x="2647950" y="4994910"/>
            <a:ext cx="6496050" cy="454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18"/>
              </a:lnSpc>
              <a:buNone/>
            </a:pPr>
            <a:r>
              <a:rPr lang="en-US" sz="2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"M&amp;Q" means, and my role</a:t>
            </a:r>
            <a:endParaRPr lang="en-US" sz="2850" dirty="0"/>
          </a:p>
        </p:txBody>
      </p:sp>
      <p:sp>
        <p:nvSpPr>
          <p:cNvPr id="16" name="Text 13"/>
          <p:cNvSpPr/>
          <p:nvPr/>
        </p:nvSpPr>
        <p:spPr>
          <a:xfrm>
            <a:off x="9010650" y="5071110"/>
            <a:ext cx="673546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governance is organised, and what I do day to day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1143000" y="5646420"/>
            <a:ext cx="16002000" cy="9525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18" name="Text 15"/>
          <p:cNvSpPr/>
          <p:nvPr/>
        </p:nvSpPr>
        <p:spPr>
          <a:xfrm>
            <a:off x="1143000" y="5882640"/>
            <a:ext cx="11239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06"/>
              </a:lnSpc>
              <a:buNone/>
            </a:pPr>
            <a:r>
              <a:rPr lang="en-US" sz="375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750" dirty="0"/>
          </a:p>
        </p:txBody>
      </p:sp>
      <p:sp>
        <p:nvSpPr>
          <p:cNvPr id="19" name="Text 16"/>
          <p:cNvSpPr/>
          <p:nvPr/>
        </p:nvSpPr>
        <p:spPr>
          <a:xfrm>
            <a:off x="2647950" y="5958840"/>
            <a:ext cx="6496050" cy="454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18"/>
              </a:lnSpc>
              <a:buNone/>
            </a:pPr>
            <a:r>
              <a:rPr lang="en-US" sz="2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projects I work on</a:t>
            </a:r>
            <a:endParaRPr lang="en-US" sz="2850" dirty="0"/>
          </a:p>
        </p:txBody>
      </p:sp>
      <p:sp>
        <p:nvSpPr>
          <p:cNvPr id="20" name="Text 17"/>
          <p:cNvSpPr/>
          <p:nvPr/>
        </p:nvSpPr>
        <p:spPr>
          <a:xfrm>
            <a:off x="9010650" y="6035040"/>
            <a:ext cx="791588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Governance, Veritas, AMIGO, Deviation Management Agent</a:t>
            </a:r>
            <a:endParaRPr lang="en-US" sz="1950" dirty="0"/>
          </a:p>
        </p:txBody>
      </p:sp>
      <p:sp>
        <p:nvSpPr>
          <p:cNvPr id="21" name="Shape 18"/>
          <p:cNvSpPr/>
          <p:nvPr/>
        </p:nvSpPr>
        <p:spPr>
          <a:xfrm>
            <a:off x="1143000" y="6610350"/>
            <a:ext cx="16002000" cy="9525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22" name="Text 19"/>
          <p:cNvSpPr/>
          <p:nvPr/>
        </p:nvSpPr>
        <p:spPr>
          <a:xfrm>
            <a:off x="1143000" y="6846570"/>
            <a:ext cx="11239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06"/>
              </a:lnSpc>
              <a:buNone/>
            </a:pPr>
            <a:r>
              <a:rPr lang="en-US" sz="375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750" dirty="0"/>
          </a:p>
        </p:txBody>
      </p:sp>
      <p:sp>
        <p:nvSpPr>
          <p:cNvPr id="23" name="Text 20"/>
          <p:cNvSpPr/>
          <p:nvPr/>
        </p:nvSpPr>
        <p:spPr>
          <a:xfrm>
            <a:off x="2647950" y="6922770"/>
            <a:ext cx="6496050" cy="454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18"/>
              </a:lnSpc>
              <a:buNone/>
            </a:pPr>
            <a:r>
              <a:rPr lang="en-US" sz="2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Data Governance</a:t>
            </a:r>
            <a:endParaRPr lang="en-US" sz="2850" dirty="0"/>
          </a:p>
        </p:txBody>
      </p:sp>
      <p:sp>
        <p:nvSpPr>
          <p:cNvPr id="24" name="Text 21"/>
          <p:cNvSpPr/>
          <p:nvPr/>
        </p:nvSpPr>
        <p:spPr>
          <a:xfrm>
            <a:off x="9010650" y="6998970"/>
            <a:ext cx="770882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primary project — the problem, the platform, my contribution</a:t>
            </a:r>
            <a:endParaRPr lang="en-US" sz="1950" dirty="0"/>
          </a:p>
        </p:txBody>
      </p:sp>
      <p:sp>
        <p:nvSpPr>
          <p:cNvPr id="25" name="Shape 22"/>
          <p:cNvSpPr/>
          <p:nvPr/>
        </p:nvSpPr>
        <p:spPr>
          <a:xfrm>
            <a:off x="1143000" y="8538210"/>
            <a:ext cx="16002000" cy="9525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26" name="Shape 23"/>
          <p:cNvSpPr/>
          <p:nvPr/>
        </p:nvSpPr>
        <p:spPr>
          <a:xfrm>
            <a:off x="1143000" y="7574280"/>
            <a:ext cx="16002000" cy="9525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27" name="Text 24"/>
          <p:cNvSpPr/>
          <p:nvPr/>
        </p:nvSpPr>
        <p:spPr>
          <a:xfrm>
            <a:off x="1143000" y="7810500"/>
            <a:ext cx="11239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06"/>
              </a:lnSpc>
              <a:buNone/>
            </a:pPr>
            <a:r>
              <a:rPr lang="en-US" sz="375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750" dirty="0"/>
          </a:p>
        </p:txBody>
      </p:sp>
      <p:sp>
        <p:nvSpPr>
          <p:cNvPr id="28" name="Text 25"/>
          <p:cNvSpPr/>
          <p:nvPr/>
        </p:nvSpPr>
        <p:spPr>
          <a:xfrm>
            <a:off x="2647950" y="7886700"/>
            <a:ext cx="6496050" cy="454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18"/>
              </a:lnSpc>
              <a:buNone/>
            </a:pPr>
            <a:r>
              <a:rPr lang="en-US" sz="2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2850" dirty="0"/>
          </a:p>
        </p:txBody>
      </p:sp>
      <p:sp>
        <p:nvSpPr>
          <p:cNvPr id="29" name="Text 26"/>
          <p:cNvSpPr/>
          <p:nvPr/>
        </p:nvSpPr>
        <p:spPr>
          <a:xfrm>
            <a:off x="9010650" y="7962900"/>
            <a:ext cx="7840313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Learnings, impact, challenges and alignment with industry trends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2871788"/>
            <a:ext cx="609600" cy="47625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3" name="Text 1"/>
          <p:cNvSpPr/>
          <p:nvPr/>
        </p:nvSpPr>
        <p:spPr>
          <a:xfrm>
            <a:off x="1981200" y="2764155"/>
            <a:ext cx="2424101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ELI LILLY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331845"/>
            <a:ext cx="10267950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61"/>
              </a:lnSpc>
              <a:buNone/>
            </a:pPr>
            <a:r>
              <a:rPr lang="en-US" sz="5700" spc="-98" kern="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global medicine company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143000" y="4530090"/>
            <a:ext cx="133350" cy="1905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6" name="Text 4"/>
          <p:cNvSpPr/>
          <p:nvPr/>
        </p:nvSpPr>
        <p:spPr>
          <a:xfrm>
            <a:off x="1447800" y="4434840"/>
            <a:ext cx="860795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Discovers, develops, manufactures and supplies medicines worldwide.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5126355"/>
            <a:ext cx="133350" cy="1905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5031105"/>
            <a:ext cx="8736473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therapy areas: diabetes and obesity, oncology, immunology, neuroscience — medicines like tirzepatide, ixekizumab and abemaciclib move through Lilly's manufacturing network.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143000" y="6496050"/>
            <a:ext cx="133350" cy="1905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0" name="Text 8"/>
          <p:cNvSpPr/>
          <p:nvPr/>
        </p:nvSpPr>
        <p:spPr>
          <a:xfrm>
            <a:off x="1447800" y="6400800"/>
            <a:ext cx="8893936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site network — Indianapolis, Kinsale, Branchburg, Concord, RTP, Limerick, Sesto, Fegersheim and others — all operating under strict GxP regulation.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1239500" y="3093720"/>
            <a:ext cx="5905500" cy="409956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2" name="Text 10"/>
          <p:cNvSpPr/>
          <p:nvPr/>
        </p:nvSpPr>
        <p:spPr>
          <a:xfrm>
            <a:off x="11696700" y="3627120"/>
            <a:ext cx="549021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225" kern="0" dirty="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696700" y="4118610"/>
            <a:ext cx="5140833" cy="979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352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pharma, data is as regulated as the product.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1696700" y="5288280"/>
            <a:ext cx="514083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batch record, test result and specification must be accurate, traceable and inspection-ready — under 21 CFR Part 11 and ALCOA+ data integrity principles.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 SIT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05890"/>
            <a:ext cx="17602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719"/>
              </a:lnSpc>
              <a:buNone/>
            </a:pPr>
            <a:r>
              <a:rPr lang="en-US" sz="6000" spc="-98" kern="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 stand inside Lilly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143000" y="2935605"/>
            <a:ext cx="2714625" cy="53340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5" name="Text 3"/>
          <p:cNvSpPr/>
          <p:nvPr/>
        </p:nvSpPr>
        <p:spPr>
          <a:xfrm>
            <a:off x="1177141" y="3236595"/>
            <a:ext cx="264622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405"/>
              </a:lnSpc>
              <a:buNone/>
            </a:pPr>
            <a:r>
              <a:rPr lang="en-US" sz="195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 Lilly and Company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048125" y="2967990"/>
            <a:ext cx="457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3000" dirty="0">
                <a:solidFill>
                  <a:srgbClr val="8A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619625" y="2935605"/>
            <a:ext cx="2714625" cy="53340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8" name="Text 6"/>
          <p:cNvSpPr/>
          <p:nvPr/>
        </p:nvSpPr>
        <p:spPr>
          <a:xfrm>
            <a:off x="5307300" y="3236595"/>
            <a:ext cx="133915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405"/>
              </a:lnSpc>
              <a:buNone/>
            </a:pPr>
            <a:r>
              <a:rPr lang="en-US" sz="195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Tech@Lilly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524750" y="2967990"/>
            <a:ext cx="457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3000" dirty="0">
                <a:solidFill>
                  <a:srgbClr val="8A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8096250" y="2787015"/>
            <a:ext cx="2714625" cy="53340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11" name="Text 9"/>
          <p:cNvSpPr/>
          <p:nvPr/>
        </p:nvSpPr>
        <p:spPr>
          <a:xfrm>
            <a:off x="8055531" y="3088005"/>
            <a:ext cx="2796064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405"/>
              </a:lnSpc>
              <a:buNone/>
            </a:pPr>
            <a:r>
              <a:rPr lang="en-US" sz="195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&amp; Quality (M&amp;Q)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001375" y="2967990"/>
            <a:ext cx="457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3000" dirty="0">
                <a:solidFill>
                  <a:srgbClr val="8A9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1572875" y="2787015"/>
            <a:ext cx="2714625" cy="53340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14" name="Text 12"/>
          <p:cNvSpPr/>
          <p:nvPr/>
        </p:nvSpPr>
        <p:spPr>
          <a:xfrm>
            <a:off x="11532156" y="3088005"/>
            <a:ext cx="2796064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405"/>
              </a:lnSpc>
              <a:buNone/>
            </a:pPr>
            <a:r>
              <a:rPr lang="en-US" sz="195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Insights &amp; Analytics (DIA)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4478000" y="2967990"/>
            <a:ext cx="457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300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049500" y="2777490"/>
            <a:ext cx="2095500" cy="914400"/>
          </a:xfrm>
          <a:prstGeom prst="rect">
            <a:avLst/>
          </a:prstGeom>
          <a:solidFill>
            <a:srgbClr val="FBCFC8"/>
          </a:solidFill>
          <a:ln/>
        </p:spPr>
      </p:sp>
      <p:sp>
        <p:nvSpPr>
          <p:cNvPr id="17" name="Shape 15"/>
          <p:cNvSpPr/>
          <p:nvPr/>
        </p:nvSpPr>
        <p:spPr>
          <a:xfrm>
            <a:off x="15049500" y="2777490"/>
            <a:ext cx="2095500" cy="5334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8" name="Text 16"/>
          <p:cNvSpPr/>
          <p:nvPr/>
        </p:nvSpPr>
        <p:spPr>
          <a:xfrm>
            <a:off x="15833408" y="3078480"/>
            <a:ext cx="52768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240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143000" y="4587240"/>
            <a:ext cx="133350" cy="1905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20" name="Text 18"/>
          <p:cNvSpPr/>
          <p:nvPr/>
        </p:nvSpPr>
        <p:spPr>
          <a:xfrm>
            <a:off x="1447800" y="4491990"/>
            <a:ext cx="2014776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an intern in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3460433" y="4453890"/>
            <a:ext cx="151203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Tech@Lilly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447800" y="4491990"/>
            <a:ext cx="7086673" cy="721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technology organisation, assigned to the M&amp;Q area.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143000" y="5551170"/>
            <a:ext cx="133350" cy="1905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24" name="Text 22"/>
          <p:cNvSpPr/>
          <p:nvPr/>
        </p:nvSpPr>
        <p:spPr>
          <a:xfrm>
            <a:off x="1447800" y="5417820"/>
            <a:ext cx="4637996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M&amp;Q = Manufacturing &amp; Quality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447800" y="5455920"/>
            <a:ext cx="7625896" cy="721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part of the business that makes the medicine and assures its quality.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0700" y="4587240"/>
            <a:ext cx="133350" cy="1905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27" name="Text 25"/>
          <p:cNvSpPr/>
          <p:nvPr/>
        </p:nvSpPr>
        <p:spPr>
          <a:xfrm>
            <a:off x="9715500" y="4491990"/>
            <a:ext cx="2836043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M&amp;Q I sit on the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715500" y="4453890"/>
            <a:ext cx="5686311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(Data, Insights &amp; Analytics)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1121033" y="4878705"/>
            <a:ext cx="63960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side.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0700" y="5551170"/>
            <a:ext cx="133350" cy="1905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31" name="Text 29"/>
          <p:cNvSpPr/>
          <p:nvPr/>
        </p:nvSpPr>
        <p:spPr>
          <a:xfrm>
            <a:off x="9715500" y="5455920"/>
            <a:ext cx="1243846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report to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0957203" y="5417820"/>
            <a:ext cx="279971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Preethi Ragukumar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9715500" y="5455920"/>
            <a:ext cx="7508657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day-to-day I work with Nikhil Prakash, Pranav Kumar Jha and Kenneth Vian Dsouza, plus wider teams on the other projects.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257550"/>
            <a:ext cx="6096000" cy="67818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3448050"/>
            <a:ext cx="58216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Digital Governance Committee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508760" y="4030980"/>
            <a:ext cx="5364480" cy="678180"/>
          </a:xfrm>
          <a:prstGeom prst="rect">
            <a:avLst/>
          </a:prstGeom>
          <a:solidFill>
            <a:srgbClr val="8A3A2F"/>
          </a:solidFill>
          <a:ln/>
        </p:spPr>
      </p:sp>
      <p:sp>
        <p:nvSpPr>
          <p:cNvPr id="5" name="Text 3"/>
          <p:cNvSpPr/>
          <p:nvPr/>
        </p:nvSpPr>
        <p:spPr>
          <a:xfrm>
            <a:off x="1656893" y="4221480"/>
            <a:ext cx="50682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Data Council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74520" y="4804410"/>
            <a:ext cx="4632960" cy="678180"/>
          </a:xfrm>
          <a:prstGeom prst="rect">
            <a:avLst/>
          </a:prstGeom>
          <a:solidFill>
            <a:srgbClr val="521207"/>
          </a:solidFill>
          <a:ln/>
        </p:spPr>
      </p:sp>
      <p:sp>
        <p:nvSpPr>
          <p:cNvPr id="7" name="Text 5"/>
          <p:cNvSpPr/>
          <p:nvPr/>
        </p:nvSpPr>
        <p:spPr>
          <a:xfrm>
            <a:off x="2033626" y="4994910"/>
            <a:ext cx="431474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M&amp;Q Data Council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40280" y="5577840"/>
            <a:ext cx="3901440" cy="678180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9" name="Text 7"/>
          <p:cNvSpPr/>
          <p:nvPr/>
        </p:nvSpPr>
        <p:spPr>
          <a:xfrm>
            <a:off x="2410358" y="5768340"/>
            <a:ext cx="356128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Domain Pods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06040" y="6351270"/>
            <a:ext cx="3169920" cy="678180"/>
          </a:xfrm>
          <a:prstGeom prst="rect">
            <a:avLst/>
          </a:prstGeom>
          <a:solidFill>
            <a:srgbClr val="FBCFC8"/>
          </a:solidFill>
          <a:ln/>
        </p:spPr>
      </p:sp>
      <p:sp>
        <p:nvSpPr>
          <p:cNvPr id="11" name="Text 9"/>
          <p:cNvSpPr/>
          <p:nvPr/>
        </p:nvSpPr>
        <p:spPr>
          <a:xfrm>
            <a:off x="2787091" y="6541770"/>
            <a:ext cx="280781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706"/>
              </a:lnSpc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Stewardship Pods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01000" y="2829878"/>
            <a:ext cx="609600" cy="47625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3" name="Text 11"/>
          <p:cNvSpPr/>
          <p:nvPr/>
        </p:nvSpPr>
        <p:spPr>
          <a:xfrm>
            <a:off x="8839200" y="2722245"/>
            <a:ext cx="3984724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STRUCTURE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01000" y="3213735"/>
            <a:ext cx="1005840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94"/>
              </a:lnSpc>
              <a:buNone/>
            </a:pPr>
            <a:r>
              <a:rPr lang="en-US" sz="4500" spc="-75" kern="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data governance is organised at Lilly</a:t>
            </a:r>
            <a:endParaRPr lang="en-US" sz="4500" dirty="0"/>
          </a:p>
        </p:txBody>
      </p:sp>
      <p:sp>
        <p:nvSpPr>
          <p:cNvPr id="15" name="Shape 13"/>
          <p:cNvSpPr/>
          <p:nvPr/>
        </p:nvSpPr>
        <p:spPr>
          <a:xfrm>
            <a:off x="8001000" y="4183380"/>
            <a:ext cx="133350" cy="1905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6" name="Text 14"/>
          <p:cNvSpPr/>
          <p:nvPr/>
        </p:nvSpPr>
        <p:spPr>
          <a:xfrm>
            <a:off x="8305800" y="4097655"/>
            <a:ext cx="8498072" cy="700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025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Pods set standards for critical data elements; Stewardship Pods execute those standards.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8001000" y="5100638"/>
            <a:ext cx="133350" cy="1905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8" name="Text 16"/>
          <p:cNvSpPr/>
          <p:nvPr/>
        </p:nvSpPr>
        <p:spPr>
          <a:xfrm>
            <a:off x="8305800" y="5014913"/>
            <a:ext cx="8194674" cy="700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025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M&amp;Q governs domains such as Material, Batch/Lot, Equipment/Asset, Product, Supplier, Site, Specification and Recipe.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8001000" y="6017895"/>
            <a:ext cx="133350" cy="1905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20" name="Text 18"/>
          <p:cNvSpPr/>
          <p:nvPr/>
        </p:nvSpPr>
        <p:spPr>
          <a:xfrm>
            <a:off x="8305800" y="5932170"/>
            <a:ext cx="8637507" cy="700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025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Principle: master data at the source, quality rules applied at entry, lineage traced end-to-end, quality measured continuously.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8001000" y="6935153"/>
            <a:ext cx="133350" cy="1905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22" name="Text 20"/>
          <p:cNvSpPr/>
          <p:nvPr/>
        </p:nvSpPr>
        <p:spPr>
          <a:xfrm>
            <a:off x="8305800" y="6818948"/>
            <a:ext cx="74283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025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DGIM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8305800" y="6849428"/>
            <a:ext cx="8576558" cy="708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025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Data Governance and Information Management — Lilly's master data governance tooling and process.</a:t>
            </a:r>
            <a:endParaRPr lang="en-US" sz="20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ROLE IN ONE LINE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143000" y="1443990"/>
            <a:ext cx="1333500" cy="47625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758315"/>
            <a:ext cx="15304770" cy="270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59"/>
              </a:lnSpc>
              <a:buNone/>
            </a:pPr>
            <a:r>
              <a:rPr lang="en-US" sz="4200" spc="-45" kern="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help make Manufacturing &amp; Quality data and processes trustworthy and audit-ready — by writing data quality rules, profiling data, and building the AI-enabled tools that put that information in front of the people who need it.”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143000" y="7261860"/>
            <a:ext cx="1760220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225" kern="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DAY-TO-DAY ACTIVITIES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3000" y="7753350"/>
            <a:ext cx="3017520" cy="5334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8035290"/>
            <a:ext cx="3108046" cy="1041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1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and validating SQL-based data quality rules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4389120" y="7753350"/>
            <a:ext cx="3017520" cy="5334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8035290"/>
            <a:ext cx="3108046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1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data profiling on Databricks schemas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635240" y="7753350"/>
            <a:ext cx="3017520" cy="5334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1" name="Text 9"/>
          <p:cNvSpPr/>
          <p:nvPr/>
        </p:nvSpPr>
        <p:spPr>
          <a:xfrm>
            <a:off x="7635240" y="8035290"/>
            <a:ext cx="3108046" cy="1041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1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and refining dashboards and catalog views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881360" y="7753350"/>
            <a:ext cx="3017520" cy="5334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3" name="Text 11"/>
          <p:cNvSpPr/>
          <p:nvPr/>
        </p:nvSpPr>
        <p:spPr>
          <a:xfrm>
            <a:off x="10881360" y="8035290"/>
            <a:ext cx="3108046" cy="1375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1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Contributing to AI tooling across governance, validation, operations and quality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4127481" y="7753350"/>
            <a:ext cx="3017520" cy="5334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5" name="Text 13"/>
          <p:cNvSpPr/>
          <p:nvPr/>
        </p:nvSpPr>
        <p:spPr>
          <a:xfrm>
            <a:off x="14127481" y="8035290"/>
            <a:ext cx="3108046" cy="1041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81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Testing, documentation, requirements gathering and demo prep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I WORK 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05890"/>
            <a:ext cx="17602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719"/>
              </a:lnSpc>
              <a:buNone/>
            </a:pPr>
            <a:r>
              <a:rPr lang="en-US" sz="6000" spc="-98" kern="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workstreams across M&amp;Q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143000" y="3086100"/>
            <a:ext cx="571500" cy="2286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663190"/>
            <a:ext cx="3810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150" kern="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714500" y="3086100"/>
            <a:ext cx="3628549" cy="2286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2663190"/>
            <a:ext cx="347070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150" kern="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343049" y="3086100"/>
            <a:ext cx="6894552" cy="2286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9" name="Text 7"/>
          <p:cNvSpPr/>
          <p:nvPr/>
        </p:nvSpPr>
        <p:spPr>
          <a:xfrm>
            <a:off x="5343049" y="2663190"/>
            <a:ext cx="6834689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150" kern="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237601" y="3086100"/>
            <a:ext cx="4907399" cy="2286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1" name="Text 9"/>
          <p:cNvSpPr/>
          <p:nvPr/>
        </p:nvSpPr>
        <p:spPr>
          <a:xfrm>
            <a:off x="12237601" y="2663190"/>
            <a:ext cx="505462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150" kern="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COLLABORATORS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4251960"/>
            <a:ext cx="571500" cy="9525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356610"/>
            <a:ext cx="381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86207"/>
              </a:lnSpc>
              <a:buNone/>
            </a:pPr>
            <a:r>
              <a:rPr lang="en-US" sz="300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714500" y="4251960"/>
            <a:ext cx="3628549" cy="9525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15" name="Text 13"/>
          <p:cNvSpPr/>
          <p:nvPr/>
        </p:nvSpPr>
        <p:spPr>
          <a:xfrm>
            <a:off x="1714500" y="3356610"/>
            <a:ext cx="347070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343049" y="4251960"/>
            <a:ext cx="6894552" cy="9525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17" name="Text 15"/>
          <p:cNvSpPr/>
          <p:nvPr/>
        </p:nvSpPr>
        <p:spPr>
          <a:xfrm>
            <a:off x="5343049" y="3356610"/>
            <a:ext cx="683468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governance platform for the M&amp;Q data estate, plus DGIM data quality rules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237601" y="4251960"/>
            <a:ext cx="4907399" cy="9525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19" name="Text 17"/>
          <p:cNvSpPr/>
          <p:nvPr/>
        </p:nvSpPr>
        <p:spPr>
          <a:xfrm>
            <a:off x="12237601" y="3356610"/>
            <a:ext cx="5054621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 Prakash, Pranav Kumar Jha, Kenneth Vian Dsouza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43000" y="5394960"/>
            <a:ext cx="571500" cy="9525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4507230"/>
            <a:ext cx="3810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86207"/>
              </a:lnSpc>
              <a:buNone/>
            </a:pPr>
            <a:r>
              <a:rPr lang="en-US" sz="300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1714500" y="5394960"/>
            <a:ext cx="3628549" cy="9525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23" name="Text 21"/>
          <p:cNvSpPr/>
          <p:nvPr/>
        </p:nvSpPr>
        <p:spPr>
          <a:xfrm>
            <a:off x="1714500" y="4507230"/>
            <a:ext cx="347070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5343049" y="5394960"/>
            <a:ext cx="6894552" cy="9525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25" name="Text 23"/>
          <p:cNvSpPr/>
          <p:nvPr/>
        </p:nvSpPr>
        <p:spPr>
          <a:xfrm>
            <a:off x="5343049" y="4507230"/>
            <a:ext cx="6834689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Validation Impact Analyzer for vendor patches to validated systems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237601" y="5394960"/>
            <a:ext cx="4907399" cy="9525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27" name="Text 25"/>
          <p:cNvSpPr/>
          <p:nvPr/>
        </p:nvSpPr>
        <p:spPr>
          <a:xfrm>
            <a:off x="12237601" y="4507230"/>
            <a:ext cx="5054621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Sonu Prakash Chand, Kenneth Vian Dsouza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43000" y="6537960"/>
            <a:ext cx="571500" cy="9525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5650230"/>
            <a:ext cx="3810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86207"/>
              </a:lnSpc>
              <a:buNone/>
            </a:pPr>
            <a:r>
              <a:rPr lang="en-US" sz="300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1714500" y="6537960"/>
            <a:ext cx="3628549" cy="9525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31" name="Text 29"/>
          <p:cNvSpPr/>
          <p:nvPr/>
        </p:nvSpPr>
        <p:spPr>
          <a:xfrm>
            <a:off x="1714500" y="5650230"/>
            <a:ext cx="347070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AMIGO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5343049" y="6537960"/>
            <a:ext cx="6894552" cy="9525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33" name="Text 31"/>
          <p:cNvSpPr/>
          <p:nvPr/>
        </p:nvSpPr>
        <p:spPr>
          <a:xfrm>
            <a:off x="5343049" y="5650230"/>
            <a:ext cx="6834689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monitoring and operational support platform for production-line engineers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2237601" y="6537960"/>
            <a:ext cx="4907399" cy="9525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35" name="Text 33"/>
          <p:cNvSpPr/>
          <p:nvPr/>
        </p:nvSpPr>
        <p:spPr>
          <a:xfrm>
            <a:off x="12237601" y="5650230"/>
            <a:ext cx="5054621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Mukul, Farhat, Vikas, Idris — project leads, with me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143000" y="7730490"/>
            <a:ext cx="571500" cy="15240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37" name="Text 35"/>
          <p:cNvSpPr/>
          <p:nvPr/>
        </p:nvSpPr>
        <p:spPr>
          <a:xfrm>
            <a:off x="1143000" y="6793230"/>
            <a:ext cx="381000" cy="727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86207"/>
              </a:lnSpc>
              <a:buNone/>
            </a:pPr>
            <a:r>
              <a:rPr lang="en-US" sz="300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38" name="Shape 36"/>
          <p:cNvSpPr/>
          <p:nvPr/>
        </p:nvSpPr>
        <p:spPr>
          <a:xfrm>
            <a:off x="1714500" y="7730490"/>
            <a:ext cx="3628549" cy="15240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39" name="Text 37"/>
          <p:cNvSpPr/>
          <p:nvPr/>
        </p:nvSpPr>
        <p:spPr>
          <a:xfrm>
            <a:off x="1714500" y="6793230"/>
            <a:ext cx="3470705" cy="727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Deviation Management Agent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5343049" y="7730490"/>
            <a:ext cx="6894552" cy="15240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41" name="Text 39"/>
          <p:cNvSpPr/>
          <p:nvPr/>
        </p:nvSpPr>
        <p:spPr>
          <a:xfrm>
            <a:off x="5343049" y="6793230"/>
            <a:ext cx="6834689" cy="727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assistance across the minor-deviation lifecycle in the quality system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2237601" y="7730490"/>
            <a:ext cx="4907399" cy="15240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43" name="Text 41"/>
          <p:cNvSpPr/>
          <p:nvPr/>
        </p:nvSpPr>
        <p:spPr>
          <a:xfrm>
            <a:off x="12237601" y="6793230"/>
            <a:ext cx="5054621" cy="727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Sudhanshu Shekhar, Rishik Reddy Bandi, Vijay Reddy Polu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143000" y="905256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is my primary project. The common thread across all four: using AI responsibly inside a regulated manufacturing environment.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125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00119" y="2464118"/>
            <a:ext cx="3244882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9767"/>
              </a:lnSpc>
              <a:buNone/>
            </a:pPr>
            <a:r>
              <a:rPr lang="en-US" sz="22500" spc="-900" kern="0" dirty="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0" dirty="0"/>
          </a:p>
        </p:txBody>
      </p:sp>
      <p:sp>
        <p:nvSpPr>
          <p:cNvPr id="3" name="Text 1"/>
          <p:cNvSpPr/>
          <p:nvPr/>
        </p:nvSpPr>
        <p:spPr>
          <a:xfrm>
            <a:off x="3999012" y="5093018"/>
            <a:ext cx="13145988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7719"/>
              </a:lnSpc>
              <a:buNone/>
            </a:pPr>
            <a:r>
              <a:rPr lang="en-US" sz="9000" spc="-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dive: Data Governance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15811500" y="6578918"/>
            <a:ext cx="1333500" cy="47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296400" y="6969443"/>
            <a:ext cx="784860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primary project — the problem, the platform we built, and what I contributed.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2502932"/>
            <a:ext cx="609600" cy="47625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3" name="Text 1"/>
          <p:cNvSpPr/>
          <p:nvPr/>
        </p:nvSpPr>
        <p:spPr>
          <a:xfrm>
            <a:off x="1981200" y="2395299"/>
            <a:ext cx="513594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1 — DATA GOVERNANCE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943939"/>
            <a:ext cx="9418320" cy="1451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87"/>
              </a:lnSpc>
              <a:buNone/>
            </a:pPr>
            <a:r>
              <a:rPr lang="en-US" sz="5250" spc="-82" kern="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40 systems, no single view</a:t>
            </a:r>
            <a:endParaRPr lang="en-US" sz="5250" dirty="0"/>
          </a:p>
        </p:txBody>
      </p:sp>
      <p:sp>
        <p:nvSpPr>
          <p:cNvPr id="5" name="Text 3"/>
          <p:cNvSpPr/>
          <p:nvPr/>
        </p:nvSpPr>
        <p:spPr>
          <a:xfrm>
            <a:off x="1143000" y="4643199"/>
            <a:ext cx="9418320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025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M&amp;Q data lives across roughly 40 source systems — historians, MES, LIMS, quality systems, ERP, planning and asset systems — all feeding the GMDF lakehouse. That fragmentation means: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143000" y="6161961"/>
            <a:ext cx="133350" cy="1905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7" name="Text 5"/>
          <p:cNvSpPr/>
          <p:nvPr/>
        </p:nvSpPr>
        <p:spPr>
          <a:xfrm>
            <a:off x="1447800" y="6078141"/>
            <a:ext cx="684263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can easily find the right dataset or know who owns it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6661071"/>
            <a:ext cx="133350" cy="1905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9" name="Text 7"/>
          <p:cNvSpPr/>
          <p:nvPr/>
        </p:nvSpPr>
        <p:spPr>
          <a:xfrm>
            <a:off x="1447800" y="6577251"/>
            <a:ext cx="8113123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issues surface late, often to an auditor rather than the team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7160181"/>
            <a:ext cx="133350" cy="1905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1" name="Text 9"/>
          <p:cNvSpPr/>
          <p:nvPr/>
        </p:nvSpPr>
        <p:spPr>
          <a:xfrm>
            <a:off x="1447800" y="7076361"/>
            <a:ext cx="4752941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has to be reconstructed manually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43000" y="7659291"/>
            <a:ext cx="133350" cy="1905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3" name="Text 11"/>
          <p:cNvSpPr/>
          <p:nvPr/>
        </p:nvSpPr>
        <p:spPr>
          <a:xfrm>
            <a:off x="1447800" y="7575471"/>
            <a:ext cx="6455596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terms mean different things in different systems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049000" y="3508058"/>
            <a:ext cx="6096000" cy="3270885"/>
          </a:xfrm>
          <a:prstGeom prst="rect">
            <a:avLst/>
          </a:prstGeom>
          <a:solidFill>
            <a:srgbClr val="521207"/>
          </a:solidFill>
          <a:ln/>
        </p:spPr>
      </p:sp>
      <p:sp>
        <p:nvSpPr>
          <p:cNvPr id="15" name="Text 13"/>
          <p:cNvSpPr/>
          <p:nvPr/>
        </p:nvSpPr>
        <p:spPr>
          <a:xfrm>
            <a:off x="11506200" y="4041458"/>
            <a:ext cx="569976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225" kern="0" dirty="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506200" y="4494847"/>
            <a:ext cx="5337048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531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governed control plane over the whole M&amp;Q data estate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1506200" y="5559743"/>
            <a:ext cx="533704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Discoverable, quality-scored, traceable and compliant.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1 — DATA GOVERNANCE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196340"/>
            <a:ext cx="176022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12"/>
              </a:lnSpc>
              <a:buNone/>
            </a:pPr>
            <a:r>
              <a:rPr lang="en-US" sz="4800" spc="-82" kern="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built: "MQ – AI for Data Governance"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225040"/>
            <a:ext cx="5156121" cy="4572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461260"/>
            <a:ext cx="567173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405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Centre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43000" y="2853690"/>
            <a:ext cx="567173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Estate-wide KPIs and source-system health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65821" y="2225040"/>
            <a:ext cx="5156240" cy="4572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8" name="Text 6"/>
          <p:cNvSpPr/>
          <p:nvPr/>
        </p:nvSpPr>
        <p:spPr>
          <a:xfrm>
            <a:off x="6565821" y="2461260"/>
            <a:ext cx="567186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405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Catalog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565821" y="2853690"/>
            <a:ext cx="531092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Crawled inventory — owner, domain, sensitivity, live quality score, searchable in plain language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988760" y="2225040"/>
            <a:ext cx="5156240" cy="4572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1" name="Text 9"/>
          <p:cNvSpPr/>
          <p:nvPr/>
        </p:nvSpPr>
        <p:spPr>
          <a:xfrm>
            <a:off x="11988760" y="2461260"/>
            <a:ext cx="567186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405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Lineage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988760" y="2853690"/>
            <a:ext cx="531092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Column- and asset-level traceability from shop floor to consumption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3000" y="4533900"/>
            <a:ext cx="5156121" cy="4572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770120"/>
            <a:ext cx="567173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405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&amp; Profiling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43000" y="5162550"/>
            <a:ext cx="5310804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profiling and rule-based scoring across six DAMA dimensions, overlaid with ALCOA+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65821" y="4533900"/>
            <a:ext cx="5156240" cy="4572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7" name="Text 15"/>
          <p:cNvSpPr/>
          <p:nvPr/>
        </p:nvSpPr>
        <p:spPr>
          <a:xfrm>
            <a:off x="6565821" y="4770120"/>
            <a:ext cx="567186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405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Glossary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565821" y="5162550"/>
            <a:ext cx="531092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Approved, versioned definitions linked to the physical assets that implement them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988760" y="4533900"/>
            <a:ext cx="5156240" cy="4572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20" name="Text 18"/>
          <p:cNvSpPr/>
          <p:nvPr/>
        </p:nvSpPr>
        <p:spPr>
          <a:xfrm>
            <a:off x="11988760" y="4770120"/>
            <a:ext cx="567186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405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MDM &amp; Stewardship Queue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988760" y="5162550"/>
            <a:ext cx="531092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records with a maker–checker approval workflow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43000" y="7162800"/>
            <a:ext cx="5156121" cy="4572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7399020"/>
            <a:ext cx="567173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405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Models &amp; Architecture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143000" y="7791450"/>
            <a:ext cx="5310804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models and approved blueprints, reused rather than reinvented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65821" y="7162800"/>
            <a:ext cx="5156240" cy="4572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26" name="Text 24"/>
          <p:cNvSpPr/>
          <p:nvPr/>
        </p:nvSpPr>
        <p:spPr>
          <a:xfrm>
            <a:off x="6565821" y="7399020"/>
            <a:ext cx="567186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405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 Agents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6565821" y="7791450"/>
            <a:ext cx="5310927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Domain-specialist agents — crawl, profile, classify, trace, model, remediate — that also answer questions in natural language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988760" y="7162800"/>
            <a:ext cx="5156240" cy="4572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29" name="Text 27"/>
          <p:cNvSpPr/>
          <p:nvPr/>
        </p:nvSpPr>
        <p:spPr>
          <a:xfrm>
            <a:off x="11988760" y="7399020"/>
            <a:ext cx="567186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405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1988760" y="7791450"/>
            <a:ext cx="531092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Attributable, time-stamped, tamper-evident record of every governance action, for 21 CFR Part 11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1 — DATA GOVERNANCE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05890"/>
            <a:ext cx="17602200" cy="744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87"/>
              </a:lnSpc>
              <a:buNone/>
            </a:pPr>
            <a:r>
              <a:rPr lang="en-US" sz="5250" spc="-82" kern="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quality rules side: DGIM for SAP master data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1143000" y="2341245"/>
            <a:ext cx="146685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is only as good as the rules behind it — this is the other half of my data governance work.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143000" y="3274695"/>
            <a:ext cx="7734300" cy="9525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549015"/>
            <a:ext cx="850773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150" kern="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3945255"/>
            <a:ext cx="7966329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025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the Maestro supply-planning programme receives clean, complete master data.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410700" y="3274695"/>
            <a:ext cx="7734300" cy="9525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9" name="Text 7"/>
          <p:cNvSpPr/>
          <p:nvPr/>
        </p:nvSpPr>
        <p:spPr>
          <a:xfrm>
            <a:off x="9410700" y="3549015"/>
            <a:ext cx="850773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150" kern="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PART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10700" y="3945255"/>
            <a:ext cx="7966329" cy="1529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025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Authoring and documenting SQL rules — each capturing the business rule statement, technical validation logic, source table/field mapping, and both an "opportunity" query and an "error" query.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143000" y="5970270"/>
            <a:ext cx="7734300" cy="9525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6244590"/>
            <a:ext cx="850773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150" kern="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PATTERN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6640830"/>
            <a:ext cx="7966329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025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Validating that mandatory planning fields on a material–plant record are populated — a missing value silently breaks downstream planning.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9410700" y="5970270"/>
            <a:ext cx="7734300" cy="9525"/>
          </a:xfrm>
          <a:prstGeom prst="rect">
            <a:avLst/>
          </a:prstGeom>
          <a:solidFill>
            <a:srgbClr val="E4EBF1"/>
          </a:solidFill>
          <a:ln/>
        </p:spPr>
      </p:sp>
      <p:sp>
        <p:nvSpPr>
          <p:cNvPr id="15" name="Text 13"/>
          <p:cNvSpPr/>
          <p:nvPr/>
        </p:nvSpPr>
        <p:spPr>
          <a:xfrm>
            <a:off x="9410700" y="6244590"/>
            <a:ext cx="850773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150" kern="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410700" y="6640830"/>
            <a:ext cx="7966329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025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rule documentation pack that developers, reviewers and business validators all work from.</a:t>
            </a:r>
            <a:endParaRPr lang="en-US" sz="20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A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1 — DATA GOVERNANCE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05890"/>
            <a:ext cx="17602200" cy="744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87"/>
              </a:lnSpc>
              <a:buNone/>
            </a:pPr>
            <a:r>
              <a:rPr lang="en-US" sz="5250" spc="-82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work, and what I contributed</a:t>
            </a:r>
            <a:endParaRPr lang="en-US" sz="5250" dirty="0"/>
          </a:p>
        </p:txBody>
      </p:sp>
      <p:sp>
        <p:nvSpPr>
          <p:cNvPr id="4" name="Shape 2"/>
          <p:cNvSpPr/>
          <p:nvPr/>
        </p:nvSpPr>
        <p:spPr>
          <a:xfrm>
            <a:off x="1143000" y="2722245"/>
            <a:ext cx="7543800" cy="952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996565"/>
            <a:ext cx="82981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91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&amp; cadence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3625215"/>
            <a:ext cx="777011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7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 Prakash (lead, standup organiser), Pranav Kumar Jha (platform/engineering), Kenneth Vian Dsouza, and me.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43000" y="4577715"/>
            <a:ext cx="777011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7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recurring "Standup || Data Governance AI tool" to align on activities, completion and issues.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43000" y="5530215"/>
            <a:ext cx="777011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7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Git-based development with pull requests and code review, CI/CD, and dev → QA → production promotion.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601200" y="2722245"/>
            <a:ext cx="7543800" cy="952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601200" y="2996565"/>
            <a:ext cx="82981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91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contributed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601200" y="3739515"/>
            <a:ext cx="13335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886950" y="3655695"/>
            <a:ext cx="608585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refined dashboard views for data quality and compliance metrics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601200" y="4566285"/>
            <a:ext cx="13335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886950" y="4482465"/>
            <a:ext cx="7069259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data profiling across Databricks schemas for the catalog's column statistics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601200" y="5393055"/>
            <a:ext cx="13335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886950" y="5309235"/>
            <a:ext cx="6753230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Contributed to the Steward Data Catalog — KPI rollups, AI-generated column tags, domain attribution, UI fixes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601200" y="6219825"/>
            <a:ext cx="13335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886950" y="6136005"/>
            <a:ext cx="5234772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Wrote and documented SQL data quality rules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601200" y="6699885"/>
            <a:ext cx="13335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886950" y="6616065"/>
            <a:ext cx="7183186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Maintained feature-suggestion tracking so stakeholder requests were captured and prioritised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05890"/>
            <a:ext cx="17602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719"/>
              </a:lnSpc>
              <a:buNone/>
            </a:pPr>
            <a:r>
              <a:rPr lang="en-US" sz="6000" spc="-98" kern="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Veritas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143000" y="2663190"/>
            <a:ext cx="7772400" cy="5334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964180"/>
            <a:ext cx="854964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150" kern="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3360420"/>
            <a:ext cx="8005572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025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AI-based Validation Impact Analyzer. When a vendor ships a patch to a validated system: does this break anything that already works?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372600" y="2663190"/>
            <a:ext cx="7772400" cy="5334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8" name="Text 6"/>
          <p:cNvSpPr/>
          <p:nvPr/>
        </p:nvSpPr>
        <p:spPr>
          <a:xfrm>
            <a:off x="9372600" y="2964180"/>
            <a:ext cx="854964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150" kern="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HARD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72600" y="3360420"/>
            <a:ext cx="8005572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025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patch set can bring 100+ changes, each checked against requirements, SOPs, tickets and backlog — done by hand, this takes two to four weeks per patch set.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143000" y="4974907"/>
            <a:ext cx="7772400" cy="5334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5275898"/>
            <a:ext cx="854964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150" kern="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VERITAS DOES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5672138"/>
            <a:ext cx="8005572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025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Performs the first pass in minutes — evidence-backed, CSQA-defensible impact assessments — freeing SMEs to make engineering decisions instead of cross-referencing documents.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9372600" y="4974907"/>
            <a:ext cx="7772400" cy="5334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4" name="Text 12"/>
          <p:cNvSpPr/>
          <p:nvPr/>
        </p:nvSpPr>
        <p:spPr>
          <a:xfrm>
            <a:off x="9372600" y="5275898"/>
            <a:ext cx="854964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150" kern="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ROLE (~40% ALLOCATION)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372600" y="5672138"/>
            <a:ext cx="8005572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025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the testing-framework walkthrough, SOP prompt analysis, repository/asset organisation and demo prep — with Kenneth (execution) and Sonu (oversight).</a:t>
            </a:r>
            <a:endParaRPr lang="en-US" sz="20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177290"/>
            <a:ext cx="17602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84"/>
              </a:lnSpc>
              <a:buNone/>
            </a:pPr>
            <a:r>
              <a:rPr lang="en-US" sz="5250" spc="-82" kern="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AMIGO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1143000" y="1996440"/>
            <a:ext cx="1471612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528"/>
              </a:lnSpc>
              <a:buNone/>
            </a:pPr>
            <a:r>
              <a:rPr lang="en-US" sz="1875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AI-enabled monitoring and operational support platform for production-line engineers — deliberately domain-aware, with behaviour that changes by site and line configuration rather than one generic chatbot.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1143000" y="3006090"/>
            <a:ext cx="8437364" cy="4572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261360"/>
            <a:ext cx="928110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150" kern="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" y="3781425"/>
            <a:ext cx="114300" cy="1905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8" name="Text 6"/>
          <p:cNvSpPr/>
          <p:nvPr/>
        </p:nvSpPr>
        <p:spPr>
          <a:xfrm>
            <a:off x="1409700" y="3707130"/>
            <a:ext cx="675654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access to production and engineering knowledge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4196715"/>
            <a:ext cx="114300" cy="1905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0" name="Text 8"/>
          <p:cNvSpPr/>
          <p:nvPr/>
        </p:nvSpPr>
        <p:spPr>
          <a:xfrm>
            <a:off x="1409700" y="4122420"/>
            <a:ext cx="416687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KPI and FAQ query handling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4612005"/>
            <a:ext cx="114300" cy="1905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2" name="Text 10"/>
          <p:cNvSpPr/>
          <p:nvPr/>
        </p:nvSpPr>
        <p:spPr>
          <a:xfrm>
            <a:off x="1409700" y="4537710"/>
            <a:ext cx="4179379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 recommendation workflows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3000" y="5027295"/>
            <a:ext cx="114300" cy="1905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4" name="Text 12"/>
          <p:cNvSpPr/>
          <p:nvPr/>
        </p:nvSpPr>
        <p:spPr>
          <a:xfrm>
            <a:off x="1409700" y="4953000"/>
            <a:ext cx="3083396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Anomaly-detection use cases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43000" y="5442585"/>
            <a:ext cx="114300" cy="1905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6" name="Text 14"/>
          <p:cNvSpPr/>
          <p:nvPr/>
        </p:nvSpPr>
        <p:spPr>
          <a:xfrm>
            <a:off x="1409700" y="5368290"/>
            <a:ext cx="593955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Work-order and spare-parts intelligence through GMARS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43000" y="5857875"/>
            <a:ext cx="114300" cy="1905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8" name="Text 16"/>
          <p:cNvSpPr/>
          <p:nvPr/>
        </p:nvSpPr>
        <p:spPr>
          <a:xfrm>
            <a:off x="1409700" y="5783580"/>
            <a:ext cx="4850312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capture and conversational memory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113764" y="3006090"/>
            <a:ext cx="7031117" cy="1474470"/>
          </a:xfrm>
          <a:prstGeom prst="rect">
            <a:avLst/>
          </a:prstGeom>
          <a:solidFill>
            <a:srgbClr val="521207"/>
          </a:solidFill>
          <a:ln/>
        </p:spPr>
      </p:sp>
      <p:sp>
        <p:nvSpPr>
          <p:cNvPr id="20" name="Text 18"/>
          <p:cNvSpPr/>
          <p:nvPr/>
        </p:nvSpPr>
        <p:spPr>
          <a:xfrm>
            <a:off x="10399514" y="3253740"/>
            <a:ext cx="7105578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150" kern="0" dirty="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399514" y="3592830"/>
            <a:ext cx="665340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Fegersheim, Sesto, RTP, IPM, IDAP, Concord and more — scaling work ongoing.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113764" y="4671060"/>
            <a:ext cx="7031117" cy="2114550"/>
          </a:xfrm>
          <a:prstGeom prst="rect">
            <a:avLst/>
          </a:prstGeom>
          <a:solidFill>
            <a:srgbClr val="521207"/>
          </a:solidFill>
          <a:ln/>
        </p:spPr>
      </p:sp>
      <p:sp>
        <p:nvSpPr>
          <p:cNvPr id="23" name="Text 21"/>
          <p:cNvSpPr/>
          <p:nvPr/>
        </p:nvSpPr>
        <p:spPr>
          <a:xfrm>
            <a:off x="10399514" y="4918710"/>
            <a:ext cx="7105578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150" kern="0" dirty="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99514" y="5257800"/>
            <a:ext cx="6653405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Python/FastAPI on AWS (ECS, Lambda, Bedrock, S3), React + TypeScript, PostgreSQL/DynamoDB; SEEQ, PMX, OSI PI; served through Cortex. Grounded responses mitigate hallucination.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113764" y="6976110"/>
            <a:ext cx="7031117" cy="179451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26" name="Text 24"/>
          <p:cNvSpPr/>
          <p:nvPr/>
        </p:nvSpPr>
        <p:spPr>
          <a:xfrm>
            <a:off x="10399514" y="7223760"/>
            <a:ext cx="7105578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150" kern="0" dirty="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ROLE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399514" y="7562850"/>
            <a:ext cx="6653405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among the project leads; contributed to technical documentation, EDB QDoc ingestion, and resolving site-team issues.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5349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766"/>
              </a:lnSpc>
              <a:buNone/>
            </a:pPr>
            <a:r>
              <a:rPr lang="en-US" sz="4950" spc="-82" kern="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Deviation Management Agent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143000" y="2263140"/>
            <a:ext cx="7791450" cy="5334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526030"/>
            <a:ext cx="8570595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150" kern="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903220"/>
            <a:ext cx="8025194" cy="1363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deviation is any departure from an approved process in a GxP environment, recorded and investigated in Veeva OneQMS/TrackWise. Investigation is the bottleneck — minor-deviation cycle times run to roughly two weeks on average.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53550" y="2263140"/>
            <a:ext cx="7791450" cy="5334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8" name="Text 6"/>
          <p:cNvSpPr/>
          <p:nvPr/>
        </p:nvSpPr>
        <p:spPr>
          <a:xfrm>
            <a:off x="9353550" y="2526030"/>
            <a:ext cx="8570595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150" kern="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AGENT DOES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53550" y="2903220"/>
            <a:ext cx="8025194" cy="1363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assistance across the full minor-deviation lifecycle — suggesting SOPs, gathering process/equipment/batch information, supporting recurrence checks, root-cause analysis and CAPA recommendation, via specialised sub-agents under a supervisor.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4610100"/>
            <a:ext cx="16002000" cy="172974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4914900"/>
            <a:ext cx="1676400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150" kern="0" dirty="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CRITICAL DESIGN CONSTRAINT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24000" y="5292090"/>
            <a:ext cx="156972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7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does not make quality decisions and does not write autonomously to the system of record. The user always reviews, edits and accepts — with provenance and citations behind every suggestion.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43000" y="912876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role: participating in requirements gathering and daily working sessions with the deviation agent team.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3A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0589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6300" spc="-105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learned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2815590"/>
            <a:ext cx="7543800" cy="952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089910"/>
            <a:ext cx="8298180" cy="49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806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143000" y="3856792"/>
            <a:ext cx="1143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409700" y="3782497"/>
            <a:ext cx="492879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528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and data profiling at scale on Databricks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1143000" y="4313992"/>
            <a:ext cx="1143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409700" y="4239697"/>
            <a:ext cx="557753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528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frameworks — DAMA dimensions, rule design, remediation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143000" y="5104567"/>
            <a:ext cx="1143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409700" y="5030271"/>
            <a:ext cx="52109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528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catalog, lineage and master data concepts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143000" y="5561767"/>
            <a:ext cx="1143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409700" y="5487471"/>
            <a:ext cx="534808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528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Git/PR workflow, CI/CD, dev → QA → production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143000" y="6018967"/>
            <a:ext cx="1143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409700" y="5944671"/>
            <a:ext cx="731796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528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LLMs and agent architectures to real enterprise problems, including retrieval grounding to control hallucination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601200" y="2815590"/>
            <a:ext cx="7543800" cy="952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3089910"/>
            <a:ext cx="8298180" cy="49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806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&amp; professional</a:t>
            </a:r>
            <a:endParaRPr lang="en-US" sz="3300" dirty="0"/>
          </a:p>
        </p:txBody>
      </p:sp>
      <p:sp>
        <p:nvSpPr>
          <p:cNvPr id="18" name="Shape 16"/>
          <p:cNvSpPr/>
          <p:nvPr/>
        </p:nvSpPr>
        <p:spPr>
          <a:xfrm>
            <a:off x="9601200" y="3856792"/>
            <a:ext cx="1143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867900" y="3782497"/>
            <a:ext cx="7236409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528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GxP regulation shapes engineering decisions — ALCOA+, 21 CFR Part 11, audit trails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601200" y="4647367"/>
            <a:ext cx="1143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867900" y="4573072"/>
            <a:ext cx="7008065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528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"human in the loop" is a design requirement, not a nicety, in regulated AI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9601200" y="5437942"/>
            <a:ext cx="1143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867900" y="5363646"/>
            <a:ext cx="675678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528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in daily agile standups with globally distributed teams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9601200" y="5895142"/>
            <a:ext cx="1143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9867900" y="5820846"/>
            <a:ext cx="74692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528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documentation a reviewer, a tester and an auditor can all use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9601200" y="6352342"/>
            <a:ext cx="1143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9867900" y="6278046"/>
            <a:ext cx="634093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528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Translating business requirements into technical rules and requirement statements</a:t>
            </a:r>
            <a:endParaRPr lang="en-US" sz="18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29690"/>
            <a:ext cx="17602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719"/>
              </a:lnSpc>
              <a:buNone/>
            </a:pPr>
            <a:r>
              <a:rPr lang="en-US" sz="6000" spc="-98" kern="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and takeaway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143000" y="2548890"/>
            <a:ext cx="7848600" cy="5334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811780"/>
            <a:ext cx="8633460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014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43000" y="3191828"/>
            <a:ext cx="8084058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governance from manual and reactive to continuous and automated — stewards get quality, ownership and lineage in one place.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96400" y="2548890"/>
            <a:ext cx="7848600" cy="5334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8" name="Text 6"/>
          <p:cNvSpPr/>
          <p:nvPr/>
        </p:nvSpPr>
        <p:spPr>
          <a:xfrm>
            <a:off x="9296400" y="2811780"/>
            <a:ext cx="8633460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014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296400" y="3191828"/>
            <a:ext cx="8084058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Compresses weeks of manual validation-impact analysis into minutes, with the reasoning preserved.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4136708"/>
            <a:ext cx="7848600" cy="5334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399597"/>
            <a:ext cx="8633460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014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AMIGO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43000" y="4779645"/>
            <a:ext cx="8084058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Puts operational intelligence directly in the hands of line engineers across the global site network.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96400" y="4136708"/>
            <a:ext cx="7848600" cy="5334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4" name="Text 12"/>
          <p:cNvSpPr/>
          <p:nvPr/>
        </p:nvSpPr>
        <p:spPr>
          <a:xfrm>
            <a:off x="9296400" y="4399597"/>
            <a:ext cx="8633460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014"/>
              </a:lnSpc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Deviation Management Agent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296400" y="4779645"/>
            <a:ext cx="8084058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the slowest part of the quality process without ever removing human judgement.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43000" y="7901940"/>
            <a:ext cx="16002000" cy="1546860"/>
          </a:xfrm>
          <a:prstGeom prst="rect">
            <a:avLst/>
          </a:prstGeom>
          <a:solidFill>
            <a:srgbClr val="FBCFC8"/>
          </a:solidFill>
          <a:ln/>
        </p:spPr>
      </p:sp>
      <p:sp>
        <p:nvSpPr>
          <p:cNvPr id="17" name="Text 15"/>
          <p:cNvSpPr/>
          <p:nvPr/>
        </p:nvSpPr>
        <p:spPr>
          <a:xfrm>
            <a:off x="1600200" y="8282940"/>
            <a:ext cx="1659636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150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TAKEAWAY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0200" y="8641080"/>
            <a:ext cx="1659636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24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 regulated industry, good engineering isn't just "does it work" — it's "can you prove it works, and show your reasoning."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5212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300" kern="0" dirty="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0589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6300" spc="-105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along the way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2777490"/>
            <a:ext cx="7696200" cy="952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013710"/>
            <a:ext cx="846582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dirty="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data landscape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3390900"/>
            <a:ext cx="7927086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68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Roughly 40 source systems feeding one governed platform — reconciling ownership and terminology took real effort.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448800" y="2777490"/>
            <a:ext cx="7696200" cy="952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448800" y="3013710"/>
            <a:ext cx="846582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dirty="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speed vs. audit defensibility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48800" y="3390900"/>
            <a:ext cx="7927086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68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AI-assisted answer, on Veritas especially, has to hold up to regulatory scrutiny — speed can't come at the cost of evidence.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143000" y="4538663"/>
            <a:ext cx="7696200" cy="952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774883"/>
            <a:ext cx="846582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dirty="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risk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5152073"/>
            <a:ext cx="7927086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68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AMIGO's and the agents' responses in curated, validated knowledge rather than open generation.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448800" y="4538663"/>
            <a:ext cx="7696200" cy="952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448800" y="4774883"/>
            <a:ext cx="846582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dirty="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Respecting the human-in-the-loop line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448800" y="5152073"/>
            <a:ext cx="7927086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68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tools, like the Deviation agent, that assist without ever deciding or writing autonomously to the record.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143000" y="6299835"/>
            <a:ext cx="7696200" cy="952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6536055"/>
            <a:ext cx="846582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dirty="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Distributed, cross-functional teams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6913245"/>
            <a:ext cx="7927086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68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Coordinating across four workstreams and shifting stakeholder requirements while ramping up as an intern.</a:t>
            </a:r>
            <a:endParaRPr lang="en-US" sz="18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1800" spc="300" kern="0" dirty="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29690"/>
            <a:ext cx="176022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636"/>
              </a:lnSpc>
              <a:buNone/>
            </a:pPr>
            <a:r>
              <a:rPr lang="en-US" sz="5850" spc="-98" kern="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Alignment with industry trends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143000" y="2529840"/>
            <a:ext cx="7848600" cy="5334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792730"/>
            <a:ext cx="86334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875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in the enterprise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143000" y="3173730"/>
            <a:ext cx="8084058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Specialised sub-agents (triage, fact-finding, investigation, CAPA) mirror the industry shift from monolithic bots to orchestrated multi-agent systems.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96400" y="2529840"/>
            <a:ext cx="7848600" cy="5334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8" name="Text 6"/>
          <p:cNvSpPr/>
          <p:nvPr/>
        </p:nvSpPr>
        <p:spPr>
          <a:xfrm>
            <a:off x="9296400" y="2792730"/>
            <a:ext cx="86334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875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governance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9296400" y="3173730"/>
            <a:ext cx="8084058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 industries are converging on "AI assists, humans decide" as the compliant model for GenAI — the same principle behind every project here.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4118610"/>
            <a:ext cx="7848600" cy="5334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381500"/>
            <a:ext cx="86334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875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Continuous, automated data governance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143000" y="4762500"/>
            <a:ext cx="8084058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from periodic manual audits to real-time quality scoring and lineage reflects the broader DataOps and data-mesh direction.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96400" y="4118610"/>
            <a:ext cx="7848600" cy="53340"/>
          </a:xfrm>
          <a:prstGeom prst="rect">
            <a:avLst/>
          </a:prstGeom>
          <a:solidFill>
            <a:srgbClr val="E1251B"/>
          </a:solidFill>
          <a:ln/>
        </p:spPr>
      </p:sp>
      <p:sp>
        <p:nvSpPr>
          <p:cNvPr id="14" name="Text 12"/>
          <p:cNvSpPr/>
          <p:nvPr/>
        </p:nvSpPr>
        <p:spPr>
          <a:xfrm>
            <a:off x="9296400" y="4381500"/>
            <a:ext cx="86334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875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generation over open generation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9296400" y="4762500"/>
            <a:ext cx="8084058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52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Retrieval-backed, evidence-cited responses are becoming the default wherever hallucination carries real-world risk.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43000" y="8467725"/>
            <a:ext cx="16002000" cy="981075"/>
          </a:xfrm>
          <a:prstGeom prst="rect">
            <a:avLst/>
          </a:prstGeom>
          <a:solidFill>
            <a:srgbClr val="521207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" y="8772525"/>
            <a:ext cx="167640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7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four projects place Lilly's M&amp;Q data organisation squarely inside where enterprise AI is heading — not behind it.</a:t>
            </a:r>
            <a:endParaRPr lang="en-US" sz="1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4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857500" y="1143000"/>
            <a:ext cx="16954500" cy="16954500"/>
          </a:xfrm>
          <a:prstGeom prst="ellipse">
            <a:avLst/>
          </a:prstGeom>
          <a:ln w="15240">
            <a:solidFill>
              <a:srgbClr val="FFFFFF">
                <a:alpha val="32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047750"/>
            <a:ext cx="2660928" cy="12001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43000" y="4190047"/>
            <a:ext cx="13335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1143000" y="4551997"/>
            <a:ext cx="146685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719"/>
              </a:lnSpc>
              <a:buNone/>
            </a:pPr>
            <a:r>
              <a:rPr lang="en-US" sz="9000" spc="-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9000" dirty="0"/>
          </a:p>
        </p:txBody>
      </p:sp>
      <p:sp>
        <p:nvSpPr>
          <p:cNvPr id="6" name="Text 3"/>
          <p:cNvSpPr/>
          <p:nvPr/>
        </p:nvSpPr>
        <p:spPr>
          <a:xfrm>
            <a:off x="1143000" y="6037898"/>
            <a:ext cx="8829675" cy="977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385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Yash Kumar Saini — Intern, Manufacturing &amp; Quality, Tech@Lilly. Questions welcome.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4710172" y="8919210"/>
            <a:ext cx="267831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2026-09-16T20:51:31Z</dcterms:created>
  <dcterms:modified xsi:type="dcterms:W3CDTF">2026-09-16T20:51:31Z</dcterms:modified>
</cp:coreProperties>
</file>